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4c50130-36f9-5e7d-5c84-997a8c4753b2}">
          <p14:sldIdLst>
            <p14:sldId id="256"/>
            <p14:sldId id="257"/>
          </p14:sldIdLst>
        </p14:section>
        <p14:section name="Method" id="{8ccd8716-2b4d-b39b-bfc0-4b80ea6c070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Results" id="{c982682b-73e4-5627-f42c-3cc1546d6444}">
          <p14:sldIdLst>
            <p14:sldId id="264"/>
            <p14:sldId id="265"/>
            <p14:sldId id="266"/>
            <p14:sldId id="267"/>
            <p14:sldId id="268"/>
          </p14:sldIdLst>
        </p14:section>
        <p14:section name="Wrap-up" id="{0cbb0cae-f088-c24e-2c00-f5b64e40ad80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predict how much energy a person spends per kilogram per metre when walking, using machine learning on a prepared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supervised regression. Stress the three headline numbers: 4 feature groups, 5 models, 4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we drop the single row with a missing target, and why we never assume left and right columns are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notebook stages left to right,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and right measurements are both kept unless a pair is proven identical. Feature counts are printed by the notebook at run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mean baseline tells us whether any ML model really improves on predicting the average. Imputing and scaling happen inside each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 random split would put the same person in train and test and give over-optimistic results. LOSO measures generalisation to new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is continuous, so we report regression metrics. The best non-baseline configuration is the one with the lowest RMSE.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Boosting has the lowest Leave-One-Subject-Out RMSE, about 0.59. SVR and Ridge follow, and Random Forest is highest at about 0.72. Quote the exact MAE and R2 from your notebook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on the dashed line would be perfect predictions. Here the model predicts in a few levels, which fits Context features dominated by one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target is bimodal. With so few samples in the gap, models struggle with mid-range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consistent with the Context feature set winning: incline carries most of the signal. Remember it is not a test-set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Labels are small on this overview; the point is the block structure and the strong incline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scope: results are specific to this dataset and procedure.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one-breath summary.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A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9494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0624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Machine Learning-Based Prediction of Metabolic Cost During Human Walking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062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UE24CS352A · Machine Learning Mini-Project</a:t>
            </a:r>
            <a:endParaRPr lang="en-US" sz="2000" dirty="0"/>
          </a:p>
        </p:txBody>
      </p:sp>
      <p:sp>
        <p:nvSpPr>
          <p:cNvPr id="4" name="Hero circle"/>
          <p:cNvSpPr/>
          <p:nvPr/>
        </p:nvSpPr>
        <p:spPr>
          <a:xfrm>
            <a:off x="8229600" y="1463040"/>
            <a:ext cx="3383280" cy="33832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ccent dot"/>
          <p:cNvSpPr/>
          <p:nvPr/>
        </p:nvSpPr>
        <p:spPr>
          <a:xfrm>
            <a:off x="10698480" y="420624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Walking icon" descr="Walking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148840"/>
            <a:ext cx="16459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 and the Goal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Metabolic cost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 is the energy used per kilogram per metre walked (J/kg/m).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Task: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supervised regression from walking context, joint mechanics and muscle activity.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Questions: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which signals carry the most information, and do models beat simply predicting the average?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Test: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performance on people the model has never seen.</a:t>
            </a:r>
            <a:endParaRPr lang="en-US" sz="2200" dirty="0"/>
          </a:p>
        </p:txBody>
      </p:sp>
      <p:sp>
        <p:nvSpPr>
          <p:cNvPr id="4" name="Stat card 1"/>
          <p:cNvSpPr/>
          <p:nvPr/>
        </p:nvSpPr>
        <p:spPr>
          <a:xfrm>
            <a:off x="7498080" y="1645920"/>
            <a:ext cx="41148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0" y="178308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178308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feature groups compared</a:t>
            </a:r>
            <a:endParaRPr lang="en-US" sz="1800" dirty="0"/>
          </a:p>
        </p:txBody>
      </p:sp>
      <p:sp>
        <p:nvSpPr>
          <p:cNvPr id="7" name="Stat card 2"/>
          <p:cNvSpPr/>
          <p:nvPr/>
        </p:nvSpPr>
        <p:spPr>
          <a:xfrm>
            <a:off x="7498080" y="3154680"/>
            <a:ext cx="41148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0" y="329184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329184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regression models, incl. a baseline</a:t>
            </a:r>
            <a:endParaRPr lang="en-US" sz="1800" dirty="0"/>
          </a:p>
        </p:txBody>
      </p:sp>
      <p:sp>
        <p:nvSpPr>
          <p:cNvPr id="10" name="Stat card 3"/>
          <p:cNvSpPr/>
          <p:nvPr/>
        </p:nvSpPr>
        <p:spPr>
          <a:xfrm>
            <a:off x="7498080" y="4663440"/>
            <a:ext cx="41148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48006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480060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metrics: MSE, RMSE, MAE, R²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Dataset and Cleaning</a:t>
            </a:r>
            <a:endParaRPr lang="en-US" sz="3600" dirty="0"/>
          </a:p>
        </p:txBody>
      </p:sp>
      <p:sp>
        <p:nvSpPr>
          <p:cNvPr id="3" name="Card Prepared CSV"/>
          <p:cNvSpPr/>
          <p:nvPr/>
        </p:nvSpPr>
        <p:spPr>
          <a:xfrm>
            <a:off x="548640" y="1645920"/>
            <a:ext cx="3566160" cy="42976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Prepared CSV icon circle"/>
          <p:cNvSpPr/>
          <p:nvPr/>
        </p:nvSpPr>
        <p:spPr>
          <a:xfrm>
            <a:off x="868680" y="19659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repared CSV icon" descr="Prepared CSV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19181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 CSV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033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row per walking trial, with subject and trial identifiers. Target: metabolic_cost_J_kg_m. The raw MATLAB .mat files are not used directly.</a:t>
            </a:r>
            <a:endParaRPr lang="en-US" sz="1600" dirty="0"/>
          </a:p>
        </p:txBody>
      </p:sp>
      <p:sp>
        <p:nvSpPr>
          <p:cNvPr id="8" name="Card Missing target"/>
          <p:cNvSpPr/>
          <p:nvPr/>
        </p:nvSpPr>
        <p:spPr>
          <a:xfrm>
            <a:off x="4297680" y="1645920"/>
            <a:ext cx="3566160" cy="42976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Missing target icon circle"/>
          <p:cNvSpPr/>
          <p:nvPr/>
        </p:nvSpPr>
        <p:spPr>
          <a:xfrm>
            <a:off x="4617720" y="19659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Missing target icon" descr="Missing targe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577" y="219181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target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7033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row has no metabolic-cost value. A supervised model cannot learn from it, so the row is dropped instead of inventing a target.</a:t>
            </a:r>
            <a:endParaRPr lang="en-US" sz="1600" dirty="0"/>
          </a:p>
        </p:txBody>
      </p:sp>
      <p:sp>
        <p:nvSpPr>
          <p:cNvPr id="13" name="Card Duplicate check"/>
          <p:cNvSpPr/>
          <p:nvPr/>
        </p:nvSpPr>
        <p:spPr>
          <a:xfrm>
            <a:off x="8046720" y="1645920"/>
            <a:ext cx="3566160" cy="42976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Duplicate check icon circle"/>
          <p:cNvSpPr/>
          <p:nvPr/>
        </p:nvSpPr>
        <p:spPr>
          <a:xfrm>
            <a:off x="8366760" y="19659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Duplicate check icon" descr="Duplicate 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219181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check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7033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right-side column is dropped only if it matches its left-side twin in every row. Otherwise both sides stay. Other gaps are median-imputed inside each pipeline.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End-to-End Pipeline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4592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Step 1 badge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and inspect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Load the prepared CSV; check shape, missing values and trials per subject.</a:t>
            </a:r>
            <a:endParaRPr lang="en-US" sz="1600" dirty="0"/>
          </a:p>
        </p:txBody>
      </p:sp>
      <p:sp>
        <p:nvSpPr>
          <p:cNvPr id="8" name="Step card 2"/>
          <p:cNvSpPr/>
          <p:nvPr/>
        </p:nvSpPr>
        <p:spPr>
          <a:xfrm>
            <a:off x="4297680" y="164592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Step 2 badge"/>
          <p:cNvSpPr/>
          <p:nvPr/>
        </p:nvSpPr>
        <p:spPr>
          <a:xfrm>
            <a:off x="4572000" y="1920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Drop the row with a missing target and any verified duplicate columns.</a:t>
            </a:r>
            <a:endParaRPr lang="en-US" sz="1600" dirty="0"/>
          </a:p>
        </p:txBody>
      </p:sp>
      <p:sp>
        <p:nvSpPr>
          <p:cNvPr id="13" name="Step card 3"/>
          <p:cNvSpPr/>
          <p:nvPr/>
        </p:nvSpPr>
        <p:spPr>
          <a:xfrm>
            <a:off x="8046720" y="164592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Step 3 badge"/>
          <p:cNvSpPr/>
          <p:nvPr/>
        </p:nvSpPr>
        <p:spPr>
          <a:xfrm>
            <a:off x="8321040" y="1920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feature groups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Context, Kinematics + GRF, EMG, and All.</a:t>
            </a:r>
            <a:endParaRPr lang="en-US" sz="1600" dirty="0"/>
          </a:p>
        </p:txBody>
      </p:sp>
      <p:sp>
        <p:nvSpPr>
          <p:cNvPr id="18" name="Step card 4"/>
          <p:cNvSpPr/>
          <p:nvPr/>
        </p:nvSpPr>
        <p:spPr>
          <a:xfrm>
            <a:off x="548640" y="388620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Step 4 badge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and validate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 models × 4 feature sets with Leave-One-Subject-Out CV.</a:t>
            </a:r>
            <a:endParaRPr lang="en-US" sz="1600" dirty="0"/>
          </a:p>
        </p:txBody>
      </p:sp>
      <p:sp>
        <p:nvSpPr>
          <p:cNvPr id="23" name="Step card 5"/>
          <p:cNvSpPr/>
          <p:nvPr/>
        </p:nvSpPr>
        <p:spPr>
          <a:xfrm>
            <a:off x="4297680" y="388620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4" name="Step 5 badge"/>
          <p:cNvSpPr/>
          <p:nvPr/>
        </p:nvSpPr>
        <p:spPr>
          <a:xfrm>
            <a:off x="4572000" y="4160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MSE, RMSE, MAE and R² on all out-of-fold predictions.</a:t>
            </a:r>
            <a:endParaRPr lang="en-US" sz="1600" dirty="0"/>
          </a:p>
        </p:txBody>
      </p:sp>
      <p:sp>
        <p:nvSpPr>
          <p:cNvPr id="28" name="Step card 6"/>
          <p:cNvSpPr/>
          <p:nvPr/>
        </p:nvSpPr>
        <p:spPr>
          <a:xfrm>
            <a:off x="8046720" y="3886200"/>
            <a:ext cx="35661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9" name="Step 6 badge"/>
          <p:cNvSpPr/>
          <p:nvPr/>
        </p:nvSpPr>
        <p:spPr>
          <a:xfrm>
            <a:off x="8321040" y="4160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2104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and export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Comparison charts, feature importance, CSV tables and a ZIP download.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Feature Groups</a:t>
            </a:r>
            <a:endParaRPr lang="en-US" sz="3600" dirty="0"/>
          </a:p>
        </p:txBody>
      </p:sp>
      <p:sp>
        <p:nvSpPr>
          <p:cNvPr id="3" name="Card Context"/>
          <p:cNvSpPr/>
          <p:nvPr/>
        </p:nvSpPr>
        <p:spPr>
          <a:xfrm>
            <a:off x="548640" y="164592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Context icon circle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Context icon" descr="Contex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134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118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Walking speed, incline code and trial duration. What the task conditions alone can explain.</a:t>
            </a:r>
            <a:endParaRPr lang="en-US" sz="1600" dirty="0"/>
          </a:p>
        </p:txBody>
      </p:sp>
      <p:sp>
        <p:nvSpPr>
          <p:cNvPr id="8" name="Card Kinematics + GRF"/>
          <p:cNvSpPr/>
          <p:nvPr/>
        </p:nvSpPr>
        <p:spPr>
          <a:xfrm>
            <a:off x="3355848" y="164592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9" name="Kinematics + GRF icon circle"/>
          <p:cNvSpPr/>
          <p:nvPr/>
        </p:nvSpPr>
        <p:spPr>
          <a:xfrm>
            <a:off x="3630168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Kinematics + GRF icon" descr="Kinematics + GRF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138" y="213421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0168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Kinematics + GRF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30168" y="36118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Context, plus joint angles, velocities and moments from both sides, plus ground-reaction-force features.</a:t>
            </a:r>
            <a:endParaRPr lang="en-US" sz="1600" dirty="0"/>
          </a:p>
        </p:txBody>
      </p:sp>
      <p:sp>
        <p:nvSpPr>
          <p:cNvPr id="13" name="Card EMG"/>
          <p:cNvSpPr/>
          <p:nvPr/>
        </p:nvSpPr>
        <p:spPr>
          <a:xfrm>
            <a:off x="6163056" y="164592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4" name="EMG icon circle"/>
          <p:cNvSpPr/>
          <p:nvPr/>
        </p:nvSpPr>
        <p:spPr>
          <a:xfrm>
            <a:off x="6437376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EMG icon" descr="EM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346" y="213421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37376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437376" y="36118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Context, plus muscle-activation features from both sides.</a:t>
            </a:r>
            <a:endParaRPr lang="en-US" sz="1600" dirty="0"/>
          </a:p>
        </p:txBody>
      </p:sp>
      <p:sp>
        <p:nvSpPr>
          <p:cNvPr id="18" name="Card All"/>
          <p:cNvSpPr/>
          <p:nvPr/>
        </p:nvSpPr>
        <p:spPr>
          <a:xfrm>
            <a:off x="8970264" y="164592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9" name="All icon circle"/>
          <p:cNvSpPr/>
          <p:nvPr/>
        </p:nvSpPr>
        <p:spPr>
          <a:xfrm>
            <a:off x="9244584" y="192024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ll icon" descr="Al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4" y="213421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44584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244584" y="36118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group combined: the richest and highest-dimensional input.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Five Regression Models</a:t>
            </a:r>
            <a:endParaRPr lang="en-US" sz="3600" dirty="0"/>
          </a:p>
        </p:txBody>
      </p:sp>
      <p:graphicFrame>
        <p:nvGraphicFramePr>
          <p:cNvPr id="7" name="Mode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466344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Key settings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Preprocessing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Dummy Mean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Baseline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Always predicts the training mean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impute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Ridge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Linear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alpha = 1.0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impute + standardise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SVR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Kernel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RBF kernel, C = 10, epsilon = 0.1, gamma = scale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impute + standardise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Bagged trees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300 trees, max_features = sqrt, min leaf = 2, seed 42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impute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Gradient Boosting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Boosted trees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100 stages, learning rate 0.03, depth 2, min leaf 2, Huber loss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 impute</a:t>
                      </a:r>
                      <a:endParaRPr lang="en-US" sz="1500" dirty="0"/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Leave-One-Subject-Out Validation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761488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785616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09744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…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833872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94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Fold 1</a:t>
            </a:r>
            <a:endParaRPr lang="en-US" sz="1600" dirty="0"/>
          </a:p>
        </p:txBody>
      </p:sp>
      <p:sp>
        <p:nvSpPr>
          <p:cNvPr id="9" name="Fold 1 S1"/>
          <p:cNvSpPr/>
          <p:nvPr/>
        </p:nvSpPr>
        <p:spPr>
          <a:xfrm>
            <a:off x="1737360" y="21945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</a:t>
            </a:r>
            <a:endParaRPr lang="en-US" sz="1500" dirty="0"/>
          </a:p>
        </p:txBody>
      </p:sp>
      <p:sp>
        <p:nvSpPr>
          <p:cNvPr id="11" name="Fold 1 S2"/>
          <p:cNvSpPr/>
          <p:nvPr/>
        </p:nvSpPr>
        <p:spPr>
          <a:xfrm>
            <a:off x="2761488" y="21945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61488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</a:t>
            </a:r>
            <a:endParaRPr lang="en-US" sz="1500" dirty="0"/>
          </a:p>
        </p:txBody>
      </p:sp>
      <p:sp>
        <p:nvSpPr>
          <p:cNvPr id="13" name="Fold 1 S3"/>
          <p:cNvSpPr/>
          <p:nvPr/>
        </p:nvSpPr>
        <p:spPr>
          <a:xfrm>
            <a:off x="3785616" y="21945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85616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…</a:t>
            </a:r>
            <a:endParaRPr lang="en-US" sz="2000" dirty="0"/>
          </a:p>
        </p:txBody>
      </p:sp>
      <p:sp>
        <p:nvSpPr>
          <p:cNvPr id="16" name="Fold 1 SN"/>
          <p:cNvSpPr/>
          <p:nvPr/>
        </p:nvSpPr>
        <p:spPr>
          <a:xfrm>
            <a:off x="5833872" y="21945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33872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108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Fold 2</a:t>
            </a:r>
            <a:endParaRPr lang="en-US" sz="1600" dirty="0"/>
          </a:p>
        </p:txBody>
      </p:sp>
      <p:sp>
        <p:nvSpPr>
          <p:cNvPr id="19" name="Fold 2 S1"/>
          <p:cNvSpPr/>
          <p:nvPr/>
        </p:nvSpPr>
        <p:spPr>
          <a:xfrm>
            <a:off x="1737360" y="31089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73736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</a:t>
            </a:r>
            <a:endParaRPr lang="en-US" sz="1500" dirty="0"/>
          </a:p>
        </p:txBody>
      </p:sp>
      <p:sp>
        <p:nvSpPr>
          <p:cNvPr id="21" name="Fold 2 S2"/>
          <p:cNvSpPr/>
          <p:nvPr/>
        </p:nvSpPr>
        <p:spPr>
          <a:xfrm>
            <a:off x="2761488" y="31089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61488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</a:t>
            </a:r>
            <a:endParaRPr lang="en-US" sz="1500" dirty="0"/>
          </a:p>
        </p:txBody>
      </p:sp>
      <p:sp>
        <p:nvSpPr>
          <p:cNvPr id="23" name="Fold 2 S3"/>
          <p:cNvSpPr/>
          <p:nvPr/>
        </p:nvSpPr>
        <p:spPr>
          <a:xfrm>
            <a:off x="3785616" y="31089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85616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09744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…</a:t>
            </a:r>
            <a:endParaRPr lang="en-US" sz="2000" dirty="0"/>
          </a:p>
        </p:txBody>
      </p:sp>
      <p:sp>
        <p:nvSpPr>
          <p:cNvPr id="26" name="Fold 2 SN"/>
          <p:cNvSpPr/>
          <p:nvPr/>
        </p:nvSpPr>
        <p:spPr>
          <a:xfrm>
            <a:off x="5833872" y="31089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833872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023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Fold N</a:t>
            </a:r>
            <a:endParaRPr lang="en-US" sz="1600" dirty="0"/>
          </a:p>
        </p:txBody>
      </p:sp>
      <p:sp>
        <p:nvSpPr>
          <p:cNvPr id="29" name="Fold N S1"/>
          <p:cNvSpPr/>
          <p:nvPr/>
        </p:nvSpPr>
        <p:spPr>
          <a:xfrm>
            <a:off x="1737360" y="40233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737360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</a:t>
            </a:r>
            <a:endParaRPr lang="en-US" sz="1500" dirty="0"/>
          </a:p>
        </p:txBody>
      </p:sp>
      <p:sp>
        <p:nvSpPr>
          <p:cNvPr id="31" name="Fold N S2"/>
          <p:cNvSpPr/>
          <p:nvPr/>
        </p:nvSpPr>
        <p:spPr>
          <a:xfrm>
            <a:off x="2761488" y="40233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761488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</a:t>
            </a:r>
            <a:endParaRPr lang="en-US" sz="1500" dirty="0"/>
          </a:p>
        </p:txBody>
      </p:sp>
      <p:sp>
        <p:nvSpPr>
          <p:cNvPr id="33" name="Fold N S3"/>
          <p:cNvSpPr/>
          <p:nvPr/>
        </p:nvSpPr>
        <p:spPr>
          <a:xfrm>
            <a:off x="3785616" y="40233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785616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809744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…</a:t>
            </a:r>
            <a:endParaRPr lang="en-US" sz="2000" dirty="0"/>
          </a:p>
        </p:txBody>
      </p:sp>
      <p:sp>
        <p:nvSpPr>
          <p:cNvPr id="36" name="Fold N SN"/>
          <p:cNvSpPr/>
          <p:nvPr/>
        </p:nvSpPr>
        <p:spPr>
          <a:xfrm>
            <a:off x="5833872" y="4023360"/>
            <a:ext cx="9144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833872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120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 = the held-out subject.  Train = every other subject.</a:t>
            </a:r>
            <a:endParaRPr lang="en-US" sz="1400" dirty="0"/>
          </a:p>
        </p:txBody>
      </p:sp>
      <p:sp>
        <p:nvSpPr>
          <p:cNvPr id="39" name="Point card 1"/>
          <p:cNvSpPr/>
          <p:nvPr/>
        </p:nvSpPr>
        <p:spPr>
          <a:xfrm>
            <a:off x="7315200" y="1645920"/>
            <a:ext cx="4297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589520" y="1783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subject overlap.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Trials from one person never sit in both training and test sets.</a:t>
            </a:r>
            <a:endParaRPr lang="en-US" sz="1600" dirty="0"/>
          </a:p>
        </p:txBody>
      </p:sp>
      <p:sp>
        <p:nvSpPr>
          <p:cNvPr id="41" name="Point card 2"/>
          <p:cNvSpPr/>
          <p:nvPr/>
        </p:nvSpPr>
        <p:spPr>
          <a:xfrm>
            <a:off x="7315200" y="3108960"/>
            <a:ext cx="4297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589520" y="32461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leakage.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Imputing and scaling are learned on the training fold only.</a:t>
            </a:r>
            <a:endParaRPr lang="en-US" sz="1600" dirty="0"/>
          </a:p>
        </p:txBody>
      </p:sp>
      <p:sp>
        <p:nvSpPr>
          <p:cNvPr id="43" name="Point card 3"/>
          <p:cNvSpPr/>
          <p:nvPr/>
        </p:nvSpPr>
        <p:spPr>
          <a:xfrm>
            <a:off x="7315200" y="4572000"/>
            <a:ext cx="4297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589520" y="4709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honest score.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Metrics are computed once on all out-of-fold predictions.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Evaluation Metrics</a:t>
            </a:r>
            <a:endParaRPr lang="en-US" sz="3600" dirty="0"/>
          </a:p>
        </p:txBody>
      </p:sp>
      <p:sp>
        <p:nvSpPr>
          <p:cNvPr id="3" name="Card MSE"/>
          <p:cNvSpPr/>
          <p:nvPr/>
        </p:nvSpPr>
        <p:spPr>
          <a:xfrm>
            <a:off x="548640" y="164592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MSE tag"/>
          <p:cNvSpPr/>
          <p:nvPr/>
        </p:nvSpPr>
        <p:spPr>
          <a:xfrm>
            <a:off x="822960" y="192024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Mean squared error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Average squared gap between actual and predicted. Penalises large misses.</a:t>
            </a:r>
            <a:endParaRPr lang="en-US" sz="1600" dirty="0"/>
          </a:p>
        </p:txBody>
      </p:sp>
      <p:sp>
        <p:nvSpPr>
          <p:cNvPr id="8" name="Card RMSE"/>
          <p:cNvSpPr/>
          <p:nvPr/>
        </p:nvSpPr>
        <p:spPr>
          <a:xfrm>
            <a:off x="3355848" y="164592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9" name="RMSE tag"/>
          <p:cNvSpPr/>
          <p:nvPr/>
        </p:nvSpPr>
        <p:spPr>
          <a:xfrm>
            <a:off x="3630168" y="192024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30168" y="1920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Root mean squared error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3749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Square root of MSE, in J/kg/m. Used to rank every configuration.</a:t>
            </a:r>
            <a:endParaRPr lang="en-US" sz="1600" dirty="0"/>
          </a:p>
        </p:txBody>
      </p:sp>
      <p:sp>
        <p:nvSpPr>
          <p:cNvPr id="13" name="Card MAE"/>
          <p:cNvSpPr/>
          <p:nvPr/>
        </p:nvSpPr>
        <p:spPr>
          <a:xfrm>
            <a:off x="6163056" y="164592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4" name="MAE tag"/>
          <p:cNvSpPr/>
          <p:nvPr/>
        </p:nvSpPr>
        <p:spPr>
          <a:xfrm>
            <a:off x="6437376" y="192024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37376" y="1920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Mean absolute error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3749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Average absolute gap. Easy to read and less sensitive to outliers.</a:t>
            </a:r>
            <a:endParaRPr lang="en-US" sz="1600" dirty="0"/>
          </a:p>
        </p:txBody>
      </p:sp>
      <p:sp>
        <p:nvSpPr>
          <p:cNvPr id="18" name="Card R²"/>
          <p:cNvSpPr/>
          <p:nvPr/>
        </p:nvSpPr>
        <p:spPr>
          <a:xfrm>
            <a:off x="8970264" y="1645920"/>
            <a:ext cx="2651760" cy="42976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9" name="R² tag"/>
          <p:cNvSpPr/>
          <p:nvPr/>
        </p:nvSpPr>
        <p:spPr>
          <a:xfrm>
            <a:off x="9244584" y="1920240"/>
            <a:ext cx="210312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44584" y="1920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244584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Variance explained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44584" y="3749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Improvement over predicting the mean. At or below 0 means no better than the baseline.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Results: Gradient Boosting Wins</a:t>
            </a:r>
            <a:endParaRPr lang="en-US" sz="3600" dirty="0"/>
          </a:p>
        </p:txBody>
      </p:sp>
      <p:sp>
        <p:nvSpPr>
          <p:cNvPr id="3" name="Chart frame"/>
          <p:cNvSpPr/>
          <p:nvPr/>
        </p:nvSpPr>
        <p:spPr>
          <a:xfrm>
            <a:off x="548640" y="1645920"/>
            <a:ext cx="6949440" cy="3942080"/>
          </a:xfrm>
          <a:prstGeom prst="roundRect">
            <a:avLst>
              <a:gd name="adj" fmla="val 1856"/>
            </a:avLst>
          </a:prstGeom>
          <a:solidFill>
            <a:schemeClr val="bg2"/>
          </a:solidFill>
          <a:ln/>
        </p:spPr>
      </p:sp>
      <p:pic>
        <p:nvPicPr>
          <p:cNvPr id="4" name="Model comparison chart" descr="Bar chart of Leave-One-Subject-Out RMSE by model: Gradient Boosting lowest, then SVR, Ridge, Random For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766560" cy="3759200"/>
          </a:xfrm>
          <a:prstGeom prst="rect">
            <a:avLst/>
          </a:prstGeom>
        </p:spPr>
      </p:pic>
      <p:sp>
        <p:nvSpPr>
          <p:cNvPr id="5" name="Result card 1"/>
          <p:cNvSpPr/>
          <p:nvPr/>
        </p:nvSpPr>
        <p:spPr>
          <a:xfrm>
            <a:off x="7772400" y="1645920"/>
            <a:ext cx="38404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0" y="178308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0.59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601200" y="17830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lowest RMSE (J/kg/m): Gradient Boosting with Context features</a:t>
            </a:r>
            <a:endParaRPr lang="en-US" sz="1500" dirty="0"/>
          </a:p>
        </p:txBody>
      </p:sp>
      <p:sp>
        <p:nvSpPr>
          <p:cNvPr id="8" name="Result card 2"/>
          <p:cNvSpPr/>
          <p:nvPr/>
        </p:nvSpPr>
        <p:spPr>
          <a:xfrm>
            <a:off x="7772400" y="3154680"/>
            <a:ext cx="38404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01000" y="32918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0.72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329184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highest RMSE among the four: Random Forest</a:t>
            </a:r>
            <a:endParaRPr lang="en-US" sz="1500" dirty="0"/>
          </a:p>
        </p:txBody>
      </p:sp>
      <p:sp>
        <p:nvSpPr>
          <p:cNvPr id="11" name="Result note card"/>
          <p:cNvSpPr/>
          <p:nvPr/>
        </p:nvSpPr>
        <p:spPr>
          <a:xfrm>
            <a:off x="7772400" y="4663440"/>
            <a:ext cx="3840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01000" y="4754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RMSE values are read from the chart. MAE and R² are in the notebook's Section 10 and 11 output.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Actual vs Predicted</a:t>
            </a:r>
            <a:endParaRPr lang="en-US" sz="3600" dirty="0"/>
          </a:p>
        </p:txBody>
      </p:sp>
      <p:sp>
        <p:nvSpPr>
          <p:cNvPr id="3" name="Actual vs Predicted frame"/>
          <p:cNvSpPr/>
          <p:nvPr/>
        </p:nvSpPr>
        <p:spPr>
          <a:xfrm>
            <a:off x="548640" y="1645920"/>
            <a:ext cx="541020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pic>
        <p:nvPicPr>
          <p:cNvPr id="4" name="Actual vs Predicted image" descr="Scatter of actual vs predicted metabolic cost for Gradient Boosting with Context features, with a dashed y = x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227320" cy="4480560"/>
          </a:xfrm>
          <a:prstGeom prst="rect">
            <a:avLst/>
          </a:prstGeom>
        </p:spPr>
      </p:pic>
      <p:sp>
        <p:nvSpPr>
          <p:cNvPr id="5" name="Insight card 1"/>
          <p:cNvSpPr/>
          <p:nvPr/>
        </p:nvSpPr>
        <p:spPr>
          <a:xfrm>
            <a:off x="7315200" y="164592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43800" y="17373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Best model.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Gradient Boosting with the Context features.</a:t>
            </a:r>
            <a:endParaRPr lang="en-US" sz="1600" dirty="0"/>
          </a:p>
        </p:txBody>
      </p:sp>
      <p:sp>
        <p:nvSpPr>
          <p:cNvPr id="7" name="Insight card 2"/>
          <p:cNvSpPr/>
          <p:nvPr/>
        </p:nvSpPr>
        <p:spPr>
          <a:xfrm>
            <a:off x="7315200" y="315468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43800" y="32461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Banded predictions.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Outputs cluster near 2, 3 and 5.8 instead of following the dashed y = x line.</a:t>
            </a:r>
            <a:endParaRPr lang="en-US" sz="1600" dirty="0"/>
          </a:p>
        </p:txBody>
      </p:sp>
      <p:sp>
        <p:nvSpPr>
          <p:cNvPr id="9" name="Insight card 3"/>
          <p:cNvSpPr/>
          <p:nvPr/>
        </p:nvSpPr>
        <p:spPr>
          <a:xfrm>
            <a:off x="7315200" y="466344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43800" y="47548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Biggest misses.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highest-cost trial (6.9) and one trial near 3.3 predicted as 5.8.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Target Distribution</a:t>
            </a:r>
            <a:endParaRPr lang="en-US" sz="3600" dirty="0"/>
          </a:p>
        </p:txBody>
      </p:sp>
      <p:sp>
        <p:nvSpPr>
          <p:cNvPr id="3" name="Target Distribution frame"/>
          <p:cNvSpPr/>
          <p:nvPr/>
        </p:nvSpPr>
        <p:spPr>
          <a:xfrm>
            <a:off x="548640" y="1645920"/>
            <a:ext cx="6492240" cy="4126230"/>
          </a:xfrm>
          <a:prstGeom prst="roundRect">
            <a:avLst>
              <a:gd name="adj" fmla="val 1773"/>
            </a:avLst>
          </a:prstGeom>
          <a:solidFill>
            <a:schemeClr val="bg2"/>
          </a:solidFill>
          <a:ln/>
        </p:spPr>
      </p:sp>
      <p:pic>
        <p:nvPicPr>
          <p:cNvPr id="4" name="Target Distribution image" descr="Histogram of metabolic cost with two clusters, one around 1.5 to 3.6 and one around 5 to 6.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309360" cy="3943350"/>
          </a:xfrm>
          <a:prstGeom prst="rect">
            <a:avLst/>
          </a:prstGeom>
        </p:spPr>
      </p:pic>
      <p:sp>
        <p:nvSpPr>
          <p:cNvPr id="5" name="Insight card 1"/>
          <p:cNvSpPr/>
          <p:nvPr/>
        </p:nvSpPr>
        <p:spPr>
          <a:xfrm>
            <a:off x="7315200" y="164592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43800" y="17373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 clusters.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Most trials fall between 1.5 and 3.6; another group sits between 5 and 6.5.</a:t>
            </a:r>
            <a:endParaRPr lang="en-US" sz="1600" dirty="0"/>
          </a:p>
        </p:txBody>
      </p:sp>
      <p:sp>
        <p:nvSpPr>
          <p:cNvPr id="7" name="Insight card 2"/>
          <p:cNvSpPr/>
          <p:nvPr/>
        </p:nvSpPr>
        <p:spPr>
          <a:xfrm>
            <a:off x="7315200" y="315468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43800" y="32461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Sparse middle.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Very few trials between 4 and 5, so mid-range costs are rarely seen.</a:t>
            </a:r>
            <a:endParaRPr lang="en-US" sz="1600" dirty="0"/>
          </a:p>
        </p:txBody>
      </p:sp>
      <p:sp>
        <p:nvSpPr>
          <p:cNvPr id="9" name="Insight card 3"/>
          <p:cNvSpPr/>
          <p:nvPr/>
        </p:nvSpPr>
        <p:spPr>
          <a:xfrm>
            <a:off x="7315200" y="466344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43800" y="47548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Small dataset.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About 71 samples in total, summed from the histogram bars.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Drives the Prediction</a:t>
            </a:r>
            <a:endParaRPr lang="en-US" sz="3600" dirty="0"/>
          </a:p>
        </p:txBody>
      </p:sp>
      <p:sp>
        <p:nvSpPr>
          <p:cNvPr id="3" name="What Drives the Prediction frame"/>
          <p:cNvSpPr/>
          <p:nvPr/>
        </p:nvSpPr>
        <p:spPr>
          <a:xfrm>
            <a:off x="548640" y="1645920"/>
            <a:ext cx="649224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/>
        </p:spPr>
      </p:sp>
      <p:pic>
        <p:nvPicPr>
          <p:cNvPr id="4" name="What Drives the Prediction image" descr="Horizontal bar chart of top 12 Gradient Boosting feature importances, with incline_code far above the r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309360" cy="4206240"/>
          </a:xfrm>
          <a:prstGeom prst="rect">
            <a:avLst/>
          </a:prstGeom>
        </p:spPr>
      </p:pic>
      <p:sp>
        <p:nvSpPr>
          <p:cNvPr id="5" name="Insight card 1"/>
          <p:cNvSpPr/>
          <p:nvPr/>
        </p:nvSpPr>
        <p:spPr>
          <a:xfrm>
            <a:off x="7315200" y="164592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43800" y="17373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dominant feature.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incline_code scores about 0.89.</a:t>
            </a:r>
            <a:endParaRPr lang="en-US" sz="1600" dirty="0"/>
          </a:p>
        </p:txBody>
      </p:sp>
      <p:sp>
        <p:nvSpPr>
          <p:cNvPr id="7" name="Insight card 2"/>
          <p:cNvSpPr/>
          <p:nvPr/>
        </p:nvSpPr>
        <p:spPr>
          <a:xfrm>
            <a:off x="7315200" y="315468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43800" y="32461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Long tail.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next feature, grf_GRF_moment_mean, is only about 0.03, followed by hip angles.</a:t>
            </a:r>
            <a:endParaRPr lang="en-US" sz="1600" dirty="0"/>
          </a:p>
        </p:txBody>
      </p:sp>
      <p:sp>
        <p:nvSpPr>
          <p:cNvPr id="9" name="Insight card 3"/>
          <p:cNvSpPr/>
          <p:nvPr/>
        </p:nvSpPr>
        <p:spPr>
          <a:xfrm>
            <a:off x="7315200" y="466344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43800" y="47548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Exploratory only.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Fitted on all rows, so it describes the model, not test performance.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Correlation Structure</a:t>
            </a:r>
            <a:endParaRPr lang="en-US" sz="3600" dirty="0"/>
          </a:p>
        </p:txBody>
      </p:sp>
      <p:sp>
        <p:nvSpPr>
          <p:cNvPr id="3" name="Correlation Structure frame"/>
          <p:cNvSpPr/>
          <p:nvPr/>
        </p:nvSpPr>
        <p:spPr>
          <a:xfrm>
            <a:off x="548640" y="1645920"/>
            <a:ext cx="6126480" cy="4640580"/>
          </a:xfrm>
          <a:prstGeom prst="roundRect">
            <a:avLst>
              <a:gd name="adj" fmla="val 1576"/>
            </a:avLst>
          </a:prstGeom>
          <a:solidFill>
            <a:schemeClr val="bg2"/>
          </a:solidFill>
          <a:ln/>
        </p:spPr>
      </p:sp>
      <p:pic>
        <p:nvPicPr>
          <p:cNvPr id="4" name="Correlation Structure image" descr="Correlation heatmap of all numeric columns including metabolic cost, kinematics, GRF and EMG featu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943600" cy="4457700"/>
          </a:xfrm>
          <a:prstGeom prst="rect">
            <a:avLst/>
          </a:prstGeom>
        </p:spPr>
      </p:pic>
      <p:sp>
        <p:nvSpPr>
          <p:cNvPr id="5" name="Insight card 1"/>
          <p:cNvSpPr/>
          <p:nvPr/>
        </p:nvSpPr>
        <p:spPr>
          <a:xfrm>
            <a:off x="7315200" y="164592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43800" y="17373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Target link.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metabolic_cost_J_kg_m correlates strongly with incline_code.</a:t>
            </a:r>
            <a:endParaRPr lang="en-US" sz="1600" dirty="0"/>
          </a:p>
        </p:txBody>
      </p:sp>
      <p:sp>
        <p:nvSpPr>
          <p:cNvPr id="7" name="Insight card 2"/>
          <p:cNvSpPr/>
          <p:nvPr/>
        </p:nvSpPr>
        <p:spPr>
          <a:xfrm>
            <a:off x="7315200" y="315468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43800" y="32461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Left and right agree.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same joint or muscle on both legs is often highly correlated.</a:t>
            </a:r>
            <a:endParaRPr lang="en-US" sz="1600" dirty="0"/>
          </a:p>
        </p:txBody>
      </p:sp>
      <p:sp>
        <p:nvSpPr>
          <p:cNvPr id="9" name="Insight card 3"/>
          <p:cNvSpPr/>
          <p:nvPr/>
        </p:nvSpPr>
        <p:spPr>
          <a:xfrm>
            <a:off x="7315200" y="466344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43800" y="47548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Overlapping signals.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Dark blocks mean many features carry similar information.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Limitations and Next Steps</a:t>
            </a:r>
            <a:endParaRPr lang="en-US" sz="3600" dirty="0"/>
          </a:p>
        </p:txBody>
      </p:sp>
      <p:sp>
        <p:nvSpPr>
          <p:cNvPr id="3" name="Card Limitations"/>
          <p:cNvSpPr/>
          <p:nvPr/>
        </p:nvSpPr>
        <p:spPr>
          <a:xfrm>
            <a:off x="548640" y="1645920"/>
            <a:ext cx="544068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Limitations icon circle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Limitations icon" descr="Limitation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0409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74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88036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Built from the prepared CSV, not the raw MATLAB .mat files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Only about 71 samples from one dataset, so scores may not generalise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Feature importance is exploratory: fitted on all rows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Hyperparameters are fixed, not tuned</a:t>
            </a:r>
            <a:endParaRPr lang="en-US" sz="1700" dirty="0"/>
          </a:p>
        </p:txBody>
      </p:sp>
      <p:sp>
        <p:nvSpPr>
          <p:cNvPr id="8" name="Card Possible next steps"/>
          <p:cNvSpPr/>
          <p:nvPr/>
        </p:nvSpPr>
        <p:spPr>
          <a:xfrm>
            <a:off x="6172200" y="1645920"/>
            <a:ext cx="544068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Possible next steps icon circle"/>
          <p:cNvSpPr/>
          <p:nvPr/>
        </p:nvSpPr>
        <p:spPr>
          <a:xfrm>
            <a:off x="649224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ossible next steps icon" descr="Possible next step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0409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1874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next steps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88036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Tune hyperparameters with nested subject-wise CV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Rebuild features directly from the .mat recordings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Report per-subject errors, not only pooled scores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Test on new subjects or walking conditions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Summary</a:t>
            </a:r>
            <a:endParaRPr lang="en-US" sz="3600" dirty="0"/>
          </a:p>
        </p:txBody>
      </p:sp>
      <p:sp>
        <p:nvSpPr>
          <p:cNvPr id="3" name="Takeaway 1 icon circle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Takeaway 1 icon" descr="Takeaway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744675"/>
            <a:ext cx="351130" cy="3511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554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Metabolic-cost prediction framed as supervised regression</a:t>
            </a:r>
            <a:endParaRPr lang="en-US" sz="2100" dirty="0"/>
          </a:p>
        </p:txBody>
      </p:sp>
      <p:sp>
        <p:nvSpPr>
          <p:cNvPr id="6" name="Takeaway 2 icon circle"/>
          <p:cNvSpPr/>
          <p:nvPr/>
        </p:nvSpPr>
        <p:spPr>
          <a:xfrm>
            <a:off x="548640" y="2560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Takeaway 2 icon" descr="Takeaway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2750515"/>
            <a:ext cx="351130" cy="3511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560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Fair comparison: 4 feature groups × 5 models under Leave-One-Subject-Out CV</a:t>
            </a:r>
            <a:endParaRPr lang="en-US" sz="2100" dirty="0"/>
          </a:p>
        </p:txBody>
      </p:sp>
      <p:sp>
        <p:nvSpPr>
          <p:cNvPr id="9" name="Takeaway 3 icon circle"/>
          <p:cNvSpPr/>
          <p:nvPr/>
        </p:nvSpPr>
        <p:spPr>
          <a:xfrm>
            <a:off x="548640" y="35661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Takeaway 3 icon" descr="Takeaway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3756355"/>
            <a:ext cx="351130" cy="35113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3566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Gradient Boosting + Context scored the lowest RMSE (≈ 0.59), and incline_code dominates</a:t>
            </a:r>
            <a:endParaRPr lang="en-US" sz="2100" dirty="0"/>
          </a:p>
        </p:txBody>
      </p:sp>
      <p:sp>
        <p:nvSpPr>
          <p:cNvPr id="12" name="Viva box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68680" y="48006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 one breath: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we drop rows with a missing target, keep left and right measurements unless proven identical, compare feature groups and models, and evaluate with Leave-One-Subject-Out cross-validation using MSE, RMSE, MAE and R².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A9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it Teal">
  <a:themeElements>
    <a:clrScheme name="Gait Teal">
      <a:dk1>
        <a:srgbClr val="10303B"/>
      </a:dk1>
      <a:lt1>
        <a:srgbClr val="FFFFFF"/>
      </a:lt1>
      <a:dk2>
        <a:srgbClr val="0A4F5C"/>
      </a:dk2>
      <a:lt2>
        <a:srgbClr val="E8F1F3"/>
      </a:lt2>
      <a:accent1>
        <a:srgbClr val="0E7C86"/>
      </a:accent1>
      <a:accent2>
        <a:srgbClr val="F2994A"/>
      </a:accent2>
      <a:accent3>
        <a:srgbClr val="2E9E83"/>
      </a:accent3>
      <a:accent4>
        <a:srgbClr val="5B7C99"/>
      </a:accent4>
      <a:accent5>
        <a:srgbClr val="C9503C"/>
      </a:accent5>
      <a:accent6>
        <a:srgbClr val="8AA9B5"/>
      </a:accent6>
      <a:hlink>
        <a:srgbClr val="0E7C86"/>
      </a:hlink>
      <a:folHlink>
        <a:srgbClr val="5B7C99"/>
      </a:folHlink>
    </a:clrScheme>
    <a:fontScheme name="Gait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ML-Based Prediction of Metabolic Cost During Human Walking</dc:title>
  <dc:subject>PptxGenJS Presentation</dc:subject>
  <dc:creator>PptxGenJS</dc:creator>
  <cp:lastModifiedBy>PptxGenJS</cp:lastModifiedBy>
  <cp:revision>1</cp:revision>
  <dcterms:created xsi:type="dcterms:W3CDTF">2026-10-12T08:07:58Z</dcterms:created>
  <dcterms:modified xsi:type="dcterms:W3CDTF">2026-10-12T08:07:58Z</dcterms:modified>
</cp:coreProperties>
</file>